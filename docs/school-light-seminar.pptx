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Коротко: я взял логику школы, в которой работаю, собрал из неё маленькую консольную программу в обычном ООП-стиле и по шагам применил два приёма: вынос вычислений и улучшение действий.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Зарплата считается по ставке за час. Ставка: своя у преподавателя, иначе общая школы, иначе по умолчанию. Пробное занятие оплачивается фиксированно. Отменённые и перенесённые ничего не 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исходной версии у преподавателя, ученика, группы и школы было по своему списку занятий: одно и то же занятие лежало в четырёх местах.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наблюдение: чтобы понять, что делает calculatePayout, мало прочитать его сигнатуру. Нужно знать, что лежит в this.school, что лежит в занятиях, и что он испортит.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метод одновременно считает, меняет данные и печатает. Проверить расчёт можно только создав школу, преподавателя, ученика и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расчёт можно проверить одним вызовом. Класс остался, но в нём только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Побочный эффект copy-on-write: нельзя держать ссылку на занятие и ждать, что оно обновится. Поэтому действия принимают id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 над занятием раньше дублировали одно и то же. Теперь они выражены через одну функцию, принимающую функцию.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Цена: действия принимают id, а не объект; чуть больше кода на копирование. Выигрыш: предсказуемость и тестируемость.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Вынос вычислений и улучшение действий</a:t>
            </a:r>
          </a:p>
          <a:p>
            <a:pPr>
              <a:defRPr sz="2400">
                <a:solidFill>
                  <a:srgbClr val="C99A2E"/>
                </a:solidFill>
              </a:defRPr>
            </a:pPr>
            <a:r>
              <a:t>на примере учебной версии системы онлайн-школы</a:t>
            </a:r>
          </a:p>
          <a:p>
            <a:pPr>
              <a:defRPr sz="1800">
                <a:solidFill>
                  <a:srgbClr val="DDDDDD"/>
                </a:solidFill>
              </a:defRPr>
            </a:pPr>
            <a:r>
              <a:t>Семинар: Технологии функционального программирования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Исходная программа: о чём она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Расписание онлайн-школы: преподаватели ведут занятия с учениками и группами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Занятие: время, формат, статус, домашнее задание, признак выплаты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Главная задача: посчитать зарплату преподавателя за период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Правила взяты из рабочей платформы школы: ставка (своя, потом школы, потом по умолчанию), пробное занятие, отмены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Консольная программа, все данные в памяти, TypeScript, около 600 строк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Сущности и связи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1F2A44"/>
                </a:solidFill>
              </a:defRPr>
            </a:pPr>
            <a:r>
              <a:t>Teacher</a:t>
            </a:r>
          </a:p>
          <a:p>
            <a:pPr algn="ctr">
              <a:defRPr sz="1300">
                <a:solidFill>
                  <a:srgbClr val="555B6B"/>
                </a:solidFill>
              </a:defRPr>
            </a:pPr>
            <a:r>
              <a:t>имя, свои ставки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0" y="20116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1F2A44"/>
                </a:solidFill>
              </a:defRPr>
            </a:pPr>
            <a:r>
              <a:t>Lesson</a:t>
            </a:r>
          </a:p>
          <a:p>
            <a:pPr algn="ctr">
              <a:defRPr sz="1300">
                <a:solidFill>
                  <a:srgbClr val="555B6B"/>
                </a:solidFill>
              </a:defRPr>
            </a:pPr>
            <a:r>
              <a:t>время, формат, статус, ДЗ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0" y="20116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1F2A44"/>
                </a:solidFill>
              </a:defRPr>
            </a:pPr>
            <a:r>
              <a:t>Student</a:t>
            </a:r>
          </a:p>
          <a:p>
            <a:pPr algn="ctr">
              <a:defRPr sz="1300">
                <a:solidFill>
                  <a:srgbClr val="555B6B"/>
                </a:solidFill>
              </a:defRPr>
            </a:pPr>
            <a:r>
              <a:t>имя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42976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1F2A44"/>
                </a:solidFill>
              </a:defRPr>
            </a:pPr>
            <a:r>
              <a:t>Group</a:t>
            </a:r>
          </a:p>
          <a:p>
            <a:pPr algn="ctr">
              <a:defRPr sz="1300">
                <a:solidFill>
                  <a:srgbClr val="555B6B"/>
                </a:solidFill>
              </a:defRPr>
            </a:pPr>
            <a:r>
              <a:t>название, ученики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297680"/>
            <a:ext cx="237744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1F2A44"/>
                </a:solidFill>
              </a:defRPr>
            </a:pPr>
            <a:r>
              <a:t>School</a:t>
            </a:r>
          </a:p>
          <a:p>
            <a:pPr algn="ctr">
              <a:defRPr sz="1300">
                <a:solidFill>
                  <a:srgbClr val="555B6B"/>
                </a:solidFill>
              </a:defRPr>
            </a:pPr>
            <a:r>
              <a:t>ставки школы, «сегодня»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606040"/>
            <a:ext cx="1645920" cy="0"/>
          </a:xfrm>
          <a:prstGeom prst="line">
            <a:avLst/>
          </a:prstGeom>
          <a:ln w="38100">
            <a:solidFill>
              <a:srgbClr val="C99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32320" y="2606040"/>
            <a:ext cx="1645920" cy="0"/>
          </a:xfrm>
          <a:prstGeom prst="line">
            <a:avLst/>
          </a:prstGeom>
          <a:ln w="38100">
            <a:solidFill>
              <a:srgbClr val="C99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43600" y="3200400"/>
            <a:ext cx="0" cy="1097280"/>
          </a:xfrm>
          <a:prstGeom prst="line">
            <a:avLst/>
          </a:prstGeom>
          <a:ln w="38100">
            <a:solidFill>
              <a:srgbClr val="C99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4892040"/>
            <a:ext cx="1645920" cy="0"/>
          </a:xfrm>
          <a:prstGeom prst="line">
            <a:avLst/>
          </a:prstGeom>
          <a:ln w="38100">
            <a:solidFill>
              <a:srgbClr val="C99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555B6B"/>
                </a:solidFill>
              </a:defRPr>
            </a:pPr>
            <a:r>
              <a:t>Занятие ведёт один преподаватель и проходит либо с одним учеником, либо с группой. School хранит всех.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Операции и скрытые входы и выходы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Операции (13): назначить, перенести, отменить, провести занятие; выдать и выполнить ДЗ; свободные окна; конфликты; зарплата за период; отметить выплату; отчёты по ученику и группе; сводка по школе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Скрытые входы: ставки школы и «сегодня» берутся из объекта School; методы читают поля this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Скрытые выходы: метод расчёта зарплаты пишет суммы в занятия, меняет balanceDue и lastReport и печатает в консоль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Сводка по школе, вызывая расчёт, попутно печатала отчёты каждого преподавателя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Приём 1. Вынос вычислений: было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03A2E"/>
                </a:solidFill>
              </a:defRPr>
            </a:pPr>
            <a:r>
              <a:t>Расчёт и действие перемешаны в одном методе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solidFill>
            <a:srgbClr val="FFFFFF"/>
          </a:solidFill>
          <a:ln w="19050">
            <a:solidFill>
              <a:srgbClr val="B0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calculatePayout(from?, to?): number {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const end = to ?? this.school.today;      // скрытый вход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const start = from ?? end.slice(0,7)+'-01';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let total = 0; let unpaid = 0; let count = 0;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for (const lesson of this.lessons) {      // скрытый вход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  if (lesson.date &lt; start || lesson.date &gt; end) continue;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  this.fillPayout(lesson);                // меняет занятие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  if (conducted(lesson)) { total += lesson.payoutAmount; ... }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}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this.balanceDue = unpaid;                 // скрытый выход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this.lastReport = `${this.name}: ...`;    // скрытый выход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console.log(this.lastReport);             // скрытый выход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return total;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Приём 1. Вынос вычислений: стало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6766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7D4F"/>
                </a:solidFill>
              </a:defRPr>
            </a:pPr>
            <a:r>
              <a:t>calc.ts: чистая функция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76656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export function calculateLessonPayout(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lesson: PayableLesson, teacherRates: Rates, schoolRates: Rates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): { rate: number; amount: number } {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if (!isActive(lesson.status)) return { rate: 0, amount: 0 };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if (isTrial(lesson)) { const rate = resolveRate('trial', ...); return { rate, amount: rate }; }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const rate = resolveRate(lesson.format, teacherRates, schoolRates);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return { rate, amount: Math.round(hours * rate) };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41732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7D4F"/>
                </a:solidFill>
              </a:defRPr>
            </a:pPr>
            <a:r>
              <a:t>Тест без школы и объектов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20624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test('выплата: полтора часа по 700', () =&gt; {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assert.deepEqual(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  calculateLessonPayout(lesson({ endTime: '11:30' }), {}, { individual: 700 }),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  { rate: 700, amount: 1050 });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</a:defRPr>
            </a:pPr>
            <a:r>
              <a:t>Все входы в аргументах, весь результат в return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</a:defRPr>
            </a:pPr>
            <a:r>
              <a:t>Метод класса стал действием: взять данные из полей, вызвать функцию, применить результат</a:t>
            </a:r>
          </a:p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</a:defRPr>
            </a:pPr>
            <a:r>
              <a:t>Так же вынесены: ставка, период, итоги, свободные окна, конфликты, тексты отчётов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Приём 2. Улучшение действий: copy-on-write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03A2E"/>
                </a:solidFill>
              </a:defRPr>
            </a:pPr>
            <a:r>
              <a:t>Было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539496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B0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rescheduleLesson(lesson, date, start, end) {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...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lesson.date = date;          // меняем объект на месте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lesson.startTime = start;    // все, кто держит ссылку, видят изменение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lesson.endTime = end;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7D4F"/>
                </a:solidFill>
              </a:defRPr>
            </a:pPr>
            <a:r>
              <a:t>Стало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828800"/>
            <a:ext cx="54864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// lessons.ts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const update = (l, changes) =&gt;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Object.freeze({ ...l, ...changes });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export const reschedule = (l, date, start, end) =&gt;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update(l, { date, startTime: start, endTime: end });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F2A44"/>
                </a:solidFill>
              </a:defRPr>
            </a:pPr>
            <a:r>
              <a:t>Занятие неизменяемо: readonly в типах и Object.freeze во время работы</a:t>
            </a:r>
          </a:p>
          <a:p>
            <a:pPr>
              <a:spcAft>
                <a:spcPts val="1000"/>
              </a:spcAft>
              <a:defRPr sz="1900">
                <a:solidFill>
                  <a:srgbClr val="1F2A44"/>
                </a:solidFill>
              </a:defRPr>
            </a:pPr>
            <a:r>
              <a:t>Правка возвращает новую версию, старая остаётся прежней (проверено тестом)</a:t>
            </a:r>
          </a:p>
          <a:p>
            <a:pPr>
              <a:spcAft>
                <a:spcPts val="1000"/>
              </a:spcAft>
              <a:defRPr sz="1900">
                <a:solidFill>
                  <a:srgbClr val="1F2A44"/>
                </a:solidFill>
              </a:defRPr>
            </a:pPr>
            <a:r>
              <a:t>Один список занятий в School вместо четырёх копий; ссылки на объекты заменены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Сигнатуры, конструктор, обобщение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94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03A2E"/>
                </a:solidFill>
              </a:defRPr>
            </a:pPr>
            <a:r>
              <a:t>Было: 10 позиционных аргументов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53949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B0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new Lesson(id, teacher, student, group,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date, start, end, format, subject, topic)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7D4F"/>
                </a:solidFill>
              </a:defRPr>
            </a:pPr>
            <a:r>
              <a:t>Стало: один объект с именами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828800"/>
            <a:ext cx="548640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createLesson(id, {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teacherId, studentId, date,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startTime, endTime, format, subject 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39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7D4F"/>
                </a:solidFill>
              </a:defRPr>
            </a:pPr>
            <a:r>
              <a:t>Обобщение: любая правка занятия это функция «было → стало»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931920"/>
            <a:ext cx="1115568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cancelLesson(id)  { return this.change(id, ops.cancel); }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conductLesson(id) { return this.change(id, ops.conduct); }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private change(id, edit: (l) =&gt; Lesson) {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return this.apply(edit(this.lesson(id)));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F2A44"/>
                </a:solidFill>
              </a:defRPr>
            </a:pPr>
            <a:r>
              <a:t>Действия возвращают результат (ok или reason), печатает вызывающий код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Что изменилось и зачем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Вычисления: проверяются одним вызовом, не зависят от состояния школы, их можно использовать повторно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Неизменяемость: нельзя случайно испортить данные, которые держит кто-то другой; видно, где состояние меняется (одна точка в School)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Скрытые выходы убраны: сводка по школе больше не печатает отчёты преподавателей попутно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Вывод демо-сценария совпал с исходным, кроме этих двух строк (сверено)</a:t>
            </a:r>
          </a:p>
          <a:p>
            <a:pPr>
              <a:spcAft>
                <a:spcPts val="1000"/>
              </a:spcAft>
              <a:defRPr sz="2000">
                <a:solidFill>
                  <a:srgbClr val="1F2A44"/>
                </a:solidFill>
              </a:defRPr>
            </a:pPr>
            <a:r>
              <a:t>Тесты: 8 до рефакторинга, 19 после; репозиторий: 3 коммита по этапам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4"/>
                </a:solidFill>
              </a:defRPr>
            </a:pPr>
            <a:r>
              <a:t>Репозиторий и этапы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097280" cy="64008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Коммит 1: исходное состояние (изменяемые объекты, печать в методах)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Коммит 2: вынос вычислений в calc.ts, поведение не изменилось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Коммит 3: copy-on-write, идентификаторы, конструктор, действия без печати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Запуск: npm start, проверка: npm test, типы: npm run check</a:t>
            </a:r>
          </a:p>
          <a:p>
            <a:pPr>
              <a:spcAft>
                <a:spcPts val="1000"/>
              </a:spcAft>
              <a:defRPr sz="2200">
                <a:solidFill>
                  <a:srgbClr val="1F2A44"/>
                </a:solidFill>
              </a:defRPr>
            </a:pPr>
            <a:r>
              <a:t>Репозиторий: github.com/Michunchik/school-light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