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Коротко: я взял логику школы, в которой работаю, собрал из неё маленькую консольную программу в обычном ООП-стиле и по шагам применил два приёма: вынос вычислений и улучшение действий.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Зарплата считается по ставке за час. Ставка: своя у преподавателя, иначе общая школы, иначе по умолчанию. Пробное занятие оплачивается фиксированно. Отменённые и перенесённые ничего не стоят.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исходной версии у преподавателя, ученика, группы и школы было по своему списку занятий: одно и то же занятие лежало в четырёх местах.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наблюдение: чтобы понять, что делает calculatePayout, мало прочитать его сигнатуру. Нужно знать, что лежит в this.school, что лежит в занятиях, и что он испортит.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метод одновременно считает, меняет данные и печатает. Проверить расчёт можно только создав школу, преподавателя, ученика и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расчёт можно проверить одним вызовом. Класс остался, но в нём только действия.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Побочный эффект copy-on-write: нельзя держать ссылку на занятие и ждать, что оно обновится. Поэтому действия принимают id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действий над занятием раньше дублировали одно и то же. Теперь они выражены через одну функцию, принимающую функцию.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Цена: действия принимают id, а не объект; чуть больше кода на копирование. Выигрыш: предсказуемость и тестируемость.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Вынос вычислений и улучшение действий</a:t>
            </a:r>
          </a:p>
          <a:p>
            <a:pPr>
              <a:defRPr sz="2400">
                <a:solidFill>
                  <a:srgbClr val="C99A2E"/>
                </a:solidFill>
              </a:defRPr>
            </a:pPr>
            <a:r>
              <a:t>на примере учебной версии системы онлайн-школы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Семинар: Технологии функционального программирования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Исходная программа: о чём она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Расписание онлайн-школы: преподаватели ведут занятия с учениками и группами</a:t>
            </a:r>
          </a:p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Занятие: время, формат, статус, домашнее задание, признак выплаты</a:t>
            </a:r>
          </a:p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Главная задача: посчитать зарплату преподавателя за период</a:t>
            </a:r>
          </a:p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Правила взяты из рабочей платформы школы: ставка (своя, потом школы, потом по умолчанию), пробное занятие, отмены</a:t>
            </a:r>
          </a:p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Консольная программа, все данные в памяти, TypeScript, около 600 строк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Сущности и связи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F2A44"/>
                </a:solidFill>
              </a:defRPr>
            </a:pPr>
            <a:r>
              <a:t>Teacher</a:t>
            </a:r>
          </a:p>
          <a:p>
            <a:pPr algn="ctr">
              <a:defRPr sz="1300">
                <a:solidFill>
                  <a:srgbClr val="555B6B"/>
                </a:solidFill>
              </a:defRPr>
            </a:pPr>
            <a:r>
              <a:t>имя, свои ставки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0116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F2A44"/>
                </a:solidFill>
              </a:defRPr>
            </a:pPr>
            <a:r>
              <a:t>Lesson</a:t>
            </a:r>
          </a:p>
          <a:p>
            <a:pPr algn="ctr">
              <a:defRPr sz="1300">
                <a:solidFill>
                  <a:srgbClr val="555B6B"/>
                </a:solidFill>
              </a:defRPr>
            </a:pPr>
            <a:r>
              <a:t>время, формат, статус, ДЗ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0116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F2A44"/>
                </a:solidFill>
              </a:defRPr>
            </a:pPr>
            <a:r>
              <a:t>Student</a:t>
            </a:r>
          </a:p>
          <a:p>
            <a:pPr algn="ctr">
              <a:defRPr sz="1300">
                <a:solidFill>
                  <a:srgbClr val="555B6B"/>
                </a:solidFill>
              </a:defRPr>
            </a:pPr>
            <a:r>
              <a:t>имя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2976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F2A44"/>
                </a:solidFill>
              </a:defRPr>
            </a:pPr>
            <a:r>
              <a:t>Group</a:t>
            </a:r>
          </a:p>
          <a:p>
            <a:pPr algn="ctr">
              <a:defRPr sz="1300">
                <a:solidFill>
                  <a:srgbClr val="555B6B"/>
                </a:solidFill>
              </a:defRPr>
            </a:pPr>
            <a:r>
              <a:t>название, ученики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F2A44"/>
                </a:solidFill>
              </a:defRPr>
            </a:pPr>
            <a:r>
              <a:t>School</a:t>
            </a:r>
          </a:p>
          <a:p>
            <a:pPr algn="ctr">
              <a:defRPr sz="1300">
                <a:solidFill>
                  <a:srgbClr val="555B6B"/>
                </a:solidFill>
              </a:defRPr>
            </a:pPr>
            <a:r>
              <a:t>ставки школы, «сегодня»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606040"/>
            <a:ext cx="1645920" cy="0"/>
          </a:xfrm>
          <a:prstGeom prst="line">
            <a:avLst/>
          </a:prstGeom>
          <a:ln w="38100">
            <a:solidFill>
              <a:srgbClr val="C99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32320" y="2606040"/>
            <a:ext cx="1645920" cy="0"/>
          </a:xfrm>
          <a:prstGeom prst="line">
            <a:avLst/>
          </a:prstGeom>
          <a:ln w="38100">
            <a:solidFill>
              <a:srgbClr val="C99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3200400"/>
            <a:ext cx="0" cy="1097280"/>
          </a:xfrm>
          <a:prstGeom prst="line">
            <a:avLst/>
          </a:prstGeom>
          <a:ln w="38100">
            <a:solidFill>
              <a:srgbClr val="C99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4892040"/>
            <a:ext cx="1645920" cy="0"/>
          </a:xfrm>
          <a:prstGeom prst="line">
            <a:avLst/>
          </a:prstGeom>
          <a:ln w="38100">
            <a:solidFill>
              <a:srgbClr val="C99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B6B"/>
                </a:solidFill>
              </a:defRPr>
            </a:pPr>
            <a:r>
              <a:t>Занятие ведёт один преподаватель и проходит либо с одним учеником, либо с группой. School хранит всех.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Операции и скрытые входы и выходы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Операции (13): назначить, перенести, отменить, провести занятие; выдать и выполнить ДЗ; свободные окна; конфликты; зарплата за период; отметить выплату; отчёты по ученику и группе; сводка по школе</a:t>
            </a:r>
          </a:p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Скрытые входы: ставки школы и «сегодня» берутся из объекта School; методы читают поля this</a:t>
            </a:r>
          </a:p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Скрытые выходы: метод расчёта зарплаты пишет суммы в занятия, меняет balanceDue и lastReport и печатает в консоль</a:t>
            </a:r>
          </a:p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Сводка по школе, вызывая расчёт, попутно печатала отчёты каждого преподавателя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Приём 1. Вынос вычислений: было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03A2E"/>
                </a:solidFill>
              </a:defRPr>
            </a:pPr>
            <a:r>
              <a:t>Расчёт и действие перемешаны в одном методе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calculatePayout(from?, to?): number {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const end = to ?? this.school.today;      // скрытый вход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const start = from ?? end.slice(0,7)+'-01';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let total = 0; let unpaid = 0; let count = 0;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for (const lesson of this.lessons) {      // скрытый вход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  if (lesson.date &lt; start || lesson.date &gt; end) continue;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  this.fillPayout(lesson);                // меняет занятие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  if (conducted(lesson)) { total += lesson.payoutAmount; ... }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}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this.balanceDue = unpaid;                 // скрытый выход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this.lastReport = `${this.name}: ...`;    // скрытый выход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console.log(this.lastReport);             // скрытый выход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  return total;</a:t>
            </a:r>
          </a:p>
          <a:p>
            <a:pPr algn="l">
              <a:defRPr sz="1600">
                <a:solidFill>
                  <a:srgbClr val="22222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Приём 1. Вынос вычислений: стало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4F"/>
                </a:solidFill>
              </a:defRPr>
            </a:pPr>
            <a:r>
              <a:t>calc.ts: чистая функция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67665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300">
                <a:solidFill>
                  <a:srgbClr val="222222"/>
                </a:solidFill>
                <a:latin typeface="Consolas"/>
              </a:defRPr>
            </a:pPr>
            <a:r>
              <a:t>export function calculateLessonPayout(</a:t>
            </a:r>
          </a:p>
          <a:p>
            <a:pPr algn="l">
              <a:defRPr sz="1300">
                <a:solidFill>
                  <a:srgbClr val="222222"/>
                </a:solidFill>
                <a:latin typeface="Consolas"/>
              </a:defRPr>
            </a:pPr>
            <a:r>
              <a:t>  lesson: PayableLesson, teacherRates: Rates, schoolRates: Rates</a:t>
            </a:r>
          </a:p>
          <a:p>
            <a:pPr algn="l">
              <a:defRPr sz="1300">
                <a:solidFill>
                  <a:srgbClr val="222222"/>
                </a:solidFill>
                <a:latin typeface="Consolas"/>
              </a:defRPr>
            </a:pPr>
            <a:r>
              <a:t>): { rate: number; amount: number } {</a:t>
            </a:r>
          </a:p>
          <a:p>
            <a:pPr algn="l">
              <a:defRPr sz="1300">
                <a:solidFill>
                  <a:srgbClr val="222222"/>
                </a:solidFill>
                <a:latin typeface="Consolas"/>
              </a:defRPr>
            </a:pPr>
            <a:r>
              <a:t>  if (!isActive(lesson.status)) return { rate: 0, amount: 0 };</a:t>
            </a:r>
          </a:p>
          <a:p>
            <a:pPr algn="l">
              <a:defRPr sz="1300">
                <a:solidFill>
                  <a:srgbClr val="222222"/>
                </a:solidFill>
                <a:latin typeface="Consolas"/>
              </a:defRPr>
            </a:pPr>
            <a:r>
              <a:t>  if (isTrial(lesson)) { const rate = resolveRate('trial', ...); return { rate, amount: rate }; }</a:t>
            </a:r>
          </a:p>
          <a:p>
            <a:pPr algn="l">
              <a:defRPr sz="1300">
                <a:solidFill>
                  <a:srgbClr val="222222"/>
                </a:solidFill>
                <a:latin typeface="Consolas"/>
              </a:defRPr>
            </a:pPr>
            <a:r>
              <a:t>  const rate = resolveRate(lesson.format, teacherRates, schoolRates);</a:t>
            </a:r>
          </a:p>
          <a:p>
            <a:pPr algn="l">
              <a:defRPr sz="1300">
                <a:solidFill>
                  <a:srgbClr val="222222"/>
                </a:solidFill>
                <a:latin typeface="Consolas"/>
              </a:defRPr>
            </a:pPr>
            <a:r>
              <a:t>  return { rate, amount: Math.round(hours * rate) };</a:t>
            </a:r>
          </a:p>
          <a:p>
            <a:pPr algn="l">
              <a:defRPr sz="1300">
                <a:solidFill>
                  <a:srgbClr val="22222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4173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4F"/>
                </a:solidFill>
              </a:defRPr>
            </a:pPr>
            <a:r>
              <a:t>Тест без школы и объектов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828800"/>
            <a:ext cx="42062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200">
                <a:solidFill>
                  <a:srgbClr val="222222"/>
                </a:solidFill>
                <a:latin typeface="Consolas"/>
              </a:defRPr>
            </a:pPr>
            <a:r>
              <a:t>test('выплата: полтора часа по 700', () =&gt; {</a:t>
            </a:r>
          </a:p>
          <a:p>
            <a:pPr algn="l">
              <a:defRPr sz="1200">
                <a:solidFill>
                  <a:srgbClr val="222222"/>
                </a:solidFill>
                <a:latin typeface="Consolas"/>
              </a:defRPr>
            </a:pPr>
            <a:r>
              <a:t>  assert.deepEqual(</a:t>
            </a:r>
          </a:p>
          <a:p>
            <a:pPr algn="l">
              <a:defRPr sz="1200">
                <a:solidFill>
                  <a:srgbClr val="222222"/>
                </a:solidFill>
                <a:latin typeface="Consolas"/>
              </a:defRPr>
            </a:pPr>
            <a:r>
              <a:t>    calculateLessonPayout(lesson({ endTime: '11:30' }), {}, { individual: 700 }),</a:t>
            </a:r>
          </a:p>
          <a:p>
            <a:pPr algn="l">
              <a:defRPr sz="1200">
                <a:solidFill>
                  <a:srgbClr val="222222"/>
                </a:solidFill>
                <a:latin typeface="Consolas"/>
              </a:defRPr>
            </a:pPr>
            <a:r>
              <a:t>    { rate: 700, amount: 1050 });</a:t>
            </a:r>
          </a:p>
          <a:p>
            <a:pPr algn="l">
              <a:defRPr sz="1200">
                <a:solidFill>
                  <a:srgbClr val="222222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Все входы в аргументах, весь результат в return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Метод класса стал действием: взять данные из полей, вызвать функцию, применить результат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Так же вынесены: ставка, период, итоги, свободные окна, конфликты, тексты отчётов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Приём 2. Улучшение действий: copy-on-write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03A2E"/>
                </a:solidFill>
              </a:defRPr>
            </a:pPr>
            <a:r>
              <a:t>Было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94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rescheduleLesson(lesson, date, start, end) {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...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lesson.date = date;          // меняем объект на месте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lesson.startTime = start;    // все, кто держит ссылку, видят изменение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lesson.endTime = end;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4F"/>
                </a:solidFill>
              </a:defRPr>
            </a:pPr>
            <a:r>
              <a:t>Стало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// lessons.ts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const update = (l, changes) =&gt;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Object.freeze({ ...l, ...changes });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export const reschedule = (l, date, start, end) =&gt;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update(l, { date, startTime: start, endTime: end 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A44"/>
                </a:solidFill>
              </a:defRPr>
            </a:pPr>
            <a:r>
              <a:t>Занятие неизменяемо: readonly в типах и Object.freeze во время работы</a:t>
            </a:r>
          </a:p>
          <a:p>
            <a:pPr>
              <a:spcAft>
                <a:spcPts val="1000"/>
              </a:spcAft>
              <a:defRPr sz="1900">
                <a:solidFill>
                  <a:srgbClr val="1F2A44"/>
                </a:solidFill>
              </a:defRPr>
            </a:pPr>
            <a:r>
              <a:t>Правка возвращает новую версию, старая остаётся прежней (проверено тестом)</a:t>
            </a:r>
          </a:p>
          <a:p>
            <a:pPr>
              <a:spcAft>
                <a:spcPts val="1000"/>
              </a:spcAft>
              <a:defRPr sz="1900">
                <a:solidFill>
                  <a:srgbClr val="1F2A44"/>
                </a:solidFill>
              </a:defRPr>
            </a:pPr>
            <a:r>
              <a:t>Один список занятий в School вместо четырёх копий; ссылки на объекты заменены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Сигнатуры, конструктор, обобщение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03A2E"/>
                </a:solidFill>
              </a:defRPr>
            </a:pPr>
            <a:r>
              <a:t>Было: 10 позиционных аргументов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94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new Lesson(id, teacher, student, group,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date, start, end, format, subject, topic)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4F"/>
                </a:solidFill>
              </a:defRPr>
            </a:pPr>
            <a:r>
              <a:t>Стало: один объект с именами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createLesson(id, {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teacherId, studentId, date,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startTime, endTime, format, subject 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39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4F"/>
                </a:solidFill>
              </a:defRPr>
            </a:pPr>
            <a:r>
              <a:t>Обобщение: любая правка занятия это функция «было → стало»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111556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cancelLesson(id)  { return this.change(id, ops.cancel); }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conductLesson(id) { return this.change(id, ops.conduct); }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private change(id, edit: (l) =&gt; Lesson) {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  return this.apply(edit(this.lesson(id)));</a:t>
            </a:r>
          </a:p>
          <a:p>
            <a:pPr algn="l">
              <a:defRPr sz="1400">
                <a:solidFill>
                  <a:srgbClr val="22222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Действия возвращают результат (ok или reason), печатает вызывающий код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Что изменилось и зачем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Вычисления: проверяются одним вызовом, не зависят от состояния школы, их можно использовать повторно</a:t>
            </a:r>
          </a:p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Неизменяемость: нельзя случайно испортить данные, которые держит кто-то другой; видно, где состояние меняется (одна точка в School)</a:t>
            </a:r>
          </a:p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Скрытые выходы убраны: сводка по школе больше не печатает отчёты преподавателей попутно</a:t>
            </a:r>
          </a:p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Вывод демо-сценария совпал с исходным, кроме этих двух строк (сверено)</a:t>
            </a:r>
          </a:p>
          <a:p>
            <a:pPr>
              <a:spcAft>
                <a:spcPts val="1000"/>
              </a:spcAft>
              <a:defRPr sz="2000">
                <a:solidFill>
                  <a:srgbClr val="1F2A44"/>
                </a:solidFill>
              </a:defRPr>
            </a:pPr>
            <a:r>
              <a:t>Тесты: 8 до рефакторинга, 19 после; репозиторий: 3 коммита по этапам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4"/>
                </a:solidFill>
              </a:defRPr>
            </a:pPr>
            <a:r>
              <a:t>Репозиторий и этапы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6400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Коммит 1: исходное состояние (изменяемые объекты, печать в методах)</a:t>
            </a:r>
          </a:p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Коммит 2: вынос вычислений в calc.ts, поведение не изменилось</a:t>
            </a:r>
          </a:p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Коммит 3: copy-on-write, идентификаторы, конструктор, действия без печати</a:t>
            </a:r>
          </a:p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Запуск: npm start, проверка: npm test, типы: npm run check</a:t>
            </a:r>
          </a:p>
          <a:p>
            <a:pPr>
              <a:spcAft>
                <a:spcPts val="1000"/>
              </a:spcAft>
              <a:defRPr sz="2200">
                <a:solidFill>
                  <a:srgbClr val="1F2A44"/>
                </a:solidFill>
              </a:defRPr>
            </a:pPr>
            <a:r>
              <a:t>Ссылка на репозиторий: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